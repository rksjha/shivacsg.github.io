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9604-23D8-4EAC-AA78-5BE5DED93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652B1-D267-4425-8232-9AF0A03E9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84B7-C075-45D9-AEC6-41E45E40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6C139-F935-4C5F-89F8-6D87452E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9E980-D689-4673-B196-075F8D3A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77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2D42-3001-4BF6-AFF3-355B9B1F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B3EF8-7C62-4D7E-891E-34CE977A8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45386-2E52-4734-BA0A-FA231B3B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412A9-951A-42D5-906F-28163CC6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55716-051F-439A-A193-A82A50C2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11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8A94-A343-4E16-8107-BB4FBF182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1A617-4854-430C-8568-FB6A3C0ED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CC2D8-83CC-4E5C-A078-87C547DD1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18A10-6359-44FF-BCAD-5F6514B24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CE44-54FF-456C-BC52-68767CD9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584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61712-7995-4D15-AD9E-7BE0D544C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64FD-1EAF-4C4A-981C-8657FE355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D3800-B617-4AC9-9EA3-F3C70EB4B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6FBAC-3D8E-4190-BB1F-7F24FB5EF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8E79C-9B3A-4F9B-9184-E194E154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85D90-63D3-4B59-B44C-7E1488F3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11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09C8-0BA3-476B-97FE-6924ECCCD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F3079-EFC7-4481-A599-2E67C6D1D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B4E5-9023-4F77-98A3-A32DADD30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90E1F-1B8D-4EAE-A1D5-D05A6B6F8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BB7F40-9359-4953-8DC6-4A1267F92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20AC8E-99ED-418C-A279-0548B24B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DC026F-1BC6-4F3F-88A1-F04F65517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DB3636-9E50-42DC-AA2F-A23BEFA6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44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01A63-A82A-40A4-AA59-65F3F496B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2E072-1999-4951-94C2-C91C93A0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41533-C70A-44D2-9AF6-23026CBDE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7F308-8A79-4BEB-B91D-6E6A79861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7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C03C2-22F6-405F-938E-3C6F2F341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454728-99C6-450C-AAE9-DDDAC9AB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F13FE-671E-468A-A1CD-BEB2A695D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62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762D-2570-4E4C-8209-587D9FA8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4E999-245B-4EC3-9796-110DBC9CC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E5DDF-75D8-4966-ADE1-110AEFC72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2EEB6-37F7-45D5-B9EB-1338042E9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D9D83-91FC-4304-AAB9-304469C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13BBC-368B-42F3-9208-252DA844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75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E16C-4855-4DFE-B76F-C5506E99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EBF1B-7C84-47ED-B8CA-710CD840F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B64E9-B63E-470B-9DBF-E7D8A7664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2673F-108E-418C-B610-60EDB48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8DC6D-B3F0-43C3-A9B1-18CD4B3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ADF0F-C474-447D-BF99-B84907E8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55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5E662-54CA-42A7-A12A-D90D5581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BDA92-E2E5-4704-B5FA-073E2973B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40FF5-F6F2-4214-BCD6-E17DDE00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96409-0A83-48B1-9B72-9FECEC87C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0F459-83EE-4F57-A22E-3FA488F1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84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B2FAE3-9F59-4F15-8A46-32703CEEA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846BF-8091-47BF-882E-C9B2990F9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801E7-A205-4C04-B26E-0213D961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5BC0D-74C2-4E33-B4EA-4CFAB657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84630-8E4D-465B-898F-832B8843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925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EF267E-5324-4275-AEF5-F11C24BB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05DBC-4F75-4B96-8EC3-BF8AC0BA6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186E8-7526-4883-910C-62B326BAC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83435-7307-4637-9AFA-CA5781EE4EFE}" type="datetimeFigureOut">
              <a:rPr lang="en-IN" smtClean="0"/>
              <a:t>07-04-2020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875DE-C60A-4183-B68B-6964AE3FC5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D0DCF-06EF-47E5-80E6-43BD949C9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AE03C-2896-47A9-A3FC-71DDA8DB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18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B97FDC-46C1-4C39-8533-B7BF72CF2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457" y="27183"/>
            <a:ext cx="12252457" cy="685800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62225A2-D3F0-45D1-9C47-B10375316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480073" cy="6858002"/>
          </a:xfrm>
          <a:custGeom>
            <a:avLst/>
            <a:gdLst>
              <a:gd name="connsiteX0" fmla="*/ 6130244 w 6480073"/>
              <a:gd name="connsiteY0" fmla="*/ 0 h 6858002"/>
              <a:gd name="connsiteX1" fmla="*/ 6212951 w 6480073"/>
              <a:gd name="connsiteY1" fmla="*/ 314584 h 6858002"/>
              <a:gd name="connsiteX2" fmla="*/ 5540779 w 6480073"/>
              <a:gd name="connsiteY2" fmla="*/ 6756649 h 6858002"/>
              <a:gd name="connsiteX3" fmla="*/ 5489971 w 6480073"/>
              <a:gd name="connsiteY3" fmla="*/ 6858002 h 6858002"/>
              <a:gd name="connsiteX4" fmla="*/ 0 w 6480073"/>
              <a:gd name="connsiteY4" fmla="*/ 6858002 h 6858002"/>
              <a:gd name="connsiteX5" fmla="*/ 0 w 6480073"/>
              <a:gd name="connsiteY5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80073" h="6858002">
                <a:moveTo>
                  <a:pt x="6130244" y="0"/>
                </a:moveTo>
                <a:lnTo>
                  <a:pt x="6212951" y="314584"/>
                </a:lnTo>
                <a:cubicBezTo>
                  <a:pt x="6745828" y="2551616"/>
                  <a:pt x="6460994" y="4808873"/>
                  <a:pt x="5540779" y="6756649"/>
                </a:cubicBezTo>
                <a:lnTo>
                  <a:pt x="5489971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B9FBFA8-6AF4-4091-9C8B-DEC6D8933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9216" cy="6858001"/>
          </a:xfrm>
          <a:custGeom>
            <a:avLst/>
            <a:gdLst>
              <a:gd name="connsiteX0" fmla="*/ 0 w 6249216"/>
              <a:gd name="connsiteY0" fmla="*/ 0 h 6858001"/>
              <a:gd name="connsiteX1" fmla="*/ 5893742 w 6249216"/>
              <a:gd name="connsiteY1" fmla="*/ 1 h 6858001"/>
              <a:gd name="connsiteX2" fmla="*/ 5993697 w 6249216"/>
              <a:gd name="connsiteY2" fmla="*/ 380651 h 6858001"/>
              <a:gd name="connsiteX3" fmla="*/ 5308924 w 6249216"/>
              <a:gd name="connsiteY3" fmla="*/ 6647018 h 6858001"/>
              <a:gd name="connsiteX4" fmla="*/ 5200672 w 6249216"/>
              <a:gd name="connsiteY4" fmla="*/ 6858001 h 6858001"/>
              <a:gd name="connsiteX5" fmla="*/ 1 w 6249216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49216" h="6858001">
                <a:moveTo>
                  <a:pt x="0" y="0"/>
                </a:moveTo>
                <a:lnTo>
                  <a:pt x="5893742" y="1"/>
                </a:lnTo>
                <a:lnTo>
                  <a:pt x="5993697" y="380651"/>
                </a:lnTo>
                <a:cubicBezTo>
                  <a:pt x="6511353" y="2559611"/>
                  <a:pt x="6222352" y="4758249"/>
                  <a:pt x="5308924" y="6647018"/>
                </a:cubicBezTo>
                <a:lnTo>
                  <a:pt x="5200672" y="6858001"/>
                </a:lnTo>
                <a:lnTo>
                  <a:pt x="1" y="685800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F4C698-8174-4B09-8C7F-3FDC76A171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07" t="17030" r="25015" b="1358"/>
          <a:stretch/>
        </p:blipFill>
        <p:spPr>
          <a:xfrm>
            <a:off x="878565" y="3428999"/>
            <a:ext cx="4291802" cy="3038933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F9BE19C-6AC2-4171-8A57-7A86636BE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764" y="83694"/>
            <a:ext cx="5674635" cy="4090067"/>
          </a:xfrm>
        </p:spPr>
        <p:txBody>
          <a:bodyPr anchor="t">
            <a:normAutofit fontScale="92500" lnSpcReduction="10000"/>
          </a:bodyPr>
          <a:lstStyle/>
          <a:p>
            <a:r>
              <a:rPr lang="en-IN" dirty="0"/>
              <a:t>No lab visits, no doctors</a:t>
            </a:r>
          </a:p>
          <a:p>
            <a:r>
              <a:rPr lang="en-US" dirty="0"/>
              <a:t>Just one finger prick of blood</a:t>
            </a:r>
          </a:p>
          <a:p>
            <a:r>
              <a:rPr lang="en-IN" dirty="0"/>
              <a:t>Very Cost Effective Solution</a:t>
            </a:r>
          </a:p>
          <a:p>
            <a:r>
              <a:rPr lang="en-IN" dirty="0"/>
              <a:t>Benefits of pre-screening</a:t>
            </a:r>
          </a:p>
          <a:p>
            <a:pPr lvl="1"/>
            <a:r>
              <a:rPr lang="en-IN" dirty="0"/>
              <a:t>Exponentially faster</a:t>
            </a:r>
          </a:p>
          <a:p>
            <a:pPr lvl="1"/>
            <a:r>
              <a:rPr lang="en-IN" dirty="0"/>
              <a:t>No Queues, No Wait time for results</a:t>
            </a:r>
          </a:p>
          <a:p>
            <a:pPr lvl="1"/>
            <a:r>
              <a:rPr lang="en-IN" dirty="0"/>
              <a:t>Exponentially more cost effective</a:t>
            </a:r>
          </a:p>
          <a:p>
            <a:pPr lvl="1"/>
            <a:r>
              <a:rPr lang="en-IN" dirty="0"/>
              <a:t>Early Detection &amp; Elimination</a:t>
            </a:r>
          </a:p>
          <a:p>
            <a:pPr lvl="1"/>
            <a:r>
              <a:rPr lang="en-US" dirty="0"/>
              <a:t>Effort less, and accessible to everyone </a:t>
            </a:r>
            <a:r>
              <a:rPr lang="en-IN" dirty="0"/>
              <a:t>nationwide, instantly</a:t>
            </a:r>
          </a:p>
          <a:p>
            <a:pPr lvl="1"/>
            <a:r>
              <a:rPr lang="en-IN" dirty="0"/>
              <a:t>Viable precautionary step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B993A2-FD45-41BF-AC4C-812868D3B027}"/>
              </a:ext>
            </a:extLst>
          </p:cNvPr>
          <p:cNvSpPr/>
          <p:nvPr/>
        </p:nvSpPr>
        <p:spPr>
          <a:xfrm>
            <a:off x="30636" y="6127975"/>
            <a:ext cx="51785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Currently Shipping to Italy | Germany | UK | S. Korea</a:t>
            </a:r>
          </a:p>
          <a:p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Japan | </a:t>
            </a:r>
            <a:r>
              <a:rPr lang="en-IN" i="1" dirty="0">
                <a:solidFill>
                  <a:schemeClr val="bg2">
                    <a:lumMod val="75000"/>
                  </a:schemeClr>
                </a:solidFill>
              </a:rPr>
              <a:t>+more</a:t>
            </a:r>
            <a:endParaRPr lang="en-IN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4D8F7F-B568-4655-86BF-02188ADF9033}"/>
              </a:ext>
            </a:extLst>
          </p:cNvPr>
          <p:cNvSpPr/>
          <p:nvPr/>
        </p:nvSpPr>
        <p:spPr>
          <a:xfrm>
            <a:off x="-52948" y="83694"/>
            <a:ext cx="2066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>
                <a:solidFill>
                  <a:srgbClr val="FFFFFF"/>
                </a:solidFill>
                <a:latin typeface="font00000000243a44eb"/>
              </a:rPr>
              <a:t>SensingSelf</a:t>
            </a:r>
            <a:r>
              <a:rPr lang="en-IN" dirty="0">
                <a:solidFill>
                  <a:srgbClr val="FFFFFF"/>
                </a:solidFill>
                <a:latin typeface="font00000000243a44eb"/>
              </a:rPr>
              <a:t> </a:t>
            </a:r>
            <a:r>
              <a:rPr lang="en-IN" dirty="0" err="1">
                <a:solidFill>
                  <a:srgbClr val="FFFFFF"/>
                </a:solidFill>
                <a:latin typeface="font00000000243a44eb"/>
              </a:rPr>
              <a:t>Pte.</a:t>
            </a:r>
            <a:r>
              <a:rPr lang="en-IN" dirty="0">
                <a:solidFill>
                  <a:srgbClr val="FFFFFF"/>
                </a:solidFill>
                <a:latin typeface="font00000000243a44eb"/>
              </a:rPr>
              <a:t> Ltd.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572DF8-883C-485F-973F-5F1A3C466A82}"/>
              </a:ext>
            </a:extLst>
          </p:cNvPr>
          <p:cNvSpPr txBox="1"/>
          <p:nvPr/>
        </p:nvSpPr>
        <p:spPr>
          <a:xfrm>
            <a:off x="304956" y="1959494"/>
            <a:ext cx="553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C00000"/>
                </a:solidFill>
              </a:rPr>
              <a:t>Self Use COVID 19</a:t>
            </a:r>
          </a:p>
          <a:p>
            <a:pPr algn="ctr"/>
            <a:r>
              <a:rPr lang="en-IN" sz="4400" dirty="0">
                <a:solidFill>
                  <a:srgbClr val="C00000"/>
                </a:solidFill>
              </a:rPr>
              <a:t>PRE-SCREENING KIT</a:t>
            </a:r>
          </a:p>
          <a:p>
            <a:pPr algn="ctr"/>
            <a:r>
              <a:rPr lang="en-IN" sz="2800" dirty="0">
                <a:solidFill>
                  <a:schemeClr val="bg2">
                    <a:lumMod val="75000"/>
                  </a:schemeClr>
                </a:solidFill>
              </a:rPr>
              <a:t>10 MINUTES DETECTION TIME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EF2104-8728-4D10-AD39-4A6C3D15A89F}"/>
              </a:ext>
            </a:extLst>
          </p:cNvPr>
          <p:cNvSpPr txBox="1"/>
          <p:nvPr/>
        </p:nvSpPr>
        <p:spPr>
          <a:xfrm>
            <a:off x="6897786" y="5741629"/>
            <a:ext cx="508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INDIAN REPRESENTATIVE</a:t>
            </a:r>
          </a:p>
          <a:p>
            <a:pPr algn="ctr"/>
            <a:r>
              <a:rPr lang="en-IN" dirty="0"/>
              <a:t>JR ENTERPRISE – AHMEDABAD</a:t>
            </a:r>
          </a:p>
          <a:p>
            <a:pPr algn="ctr"/>
            <a:r>
              <a:rPr lang="en-IN" dirty="0"/>
              <a:t>CONTACT : RAJESH JHA – CELL +91 9724022068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81387C-A603-4AAF-8DA9-0C9D174E8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287"/>
            <a:ext cx="2125768" cy="64633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22AD665-A739-486A-A3B2-DD9371EB0F7E}"/>
              </a:ext>
            </a:extLst>
          </p:cNvPr>
          <p:cNvSpPr/>
          <p:nvPr/>
        </p:nvSpPr>
        <p:spPr>
          <a:xfrm>
            <a:off x="2165740" y="390067"/>
            <a:ext cx="35744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Global Testing in progress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8A8771-D547-4833-B48B-61E6BE9623DC}"/>
              </a:ext>
            </a:extLst>
          </p:cNvPr>
          <p:cNvSpPr/>
          <p:nvPr/>
        </p:nvSpPr>
        <p:spPr>
          <a:xfrm>
            <a:off x="213672" y="891798"/>
            <a:ext cx="57197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European CE certified</a:t>
            </a:r>
          </a:p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ICMR Certified 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National Institute Of Virology - India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2" name="Content Placeholder 6">
            <a:extLst>
              <a:ext uri="{FF2B5EF4-FFF2-40B4-BE49-F238E27FC236}">
                <a16:creationId xmlns:a16="http://schemas.microsoft.com/office/drawing/2014/main" id="{1224983E-3A8F-4D58-B272-91D0C912A4B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1302"/>
          <a:stretch/>
        </p:blipFill>
        <p:spPr>
          <a:xfrm>
            <a:off x="6415764" y="4200943"/>
            <a:ext cx="5641411" cy="154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8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8406BE-6498-40BE-A87D-270A9DEE6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1" y="42844"/>
            <a:ext cx="6319777" cy="37265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E921F3-83F1-4E2D-B77F-CC82941C80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83" r="1605"/>
          <a:stretch/>
        </p:blipFill>
        <p:spPr>
          <a:xfrm>
            <a:off x="1" y="3738880"/>
            <a:ext cx="5967778" cy="327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51DDDE-B768-4F64-872F-3489F6BED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970" y="3675236"/>
            <a:ext cx="6204030" cy="3398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2A8345-ECDD-4D6B-AFC2-A6EFD5939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968" y="104955"/>
            <a:ext cx="5810491" cy="332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75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F00C6E-70CC-42B8-8B21-583C74920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508" y="106363"/>
            <a:ext cx="6715373" cy="823912"/>
          </a:xfrm>
        </p:spPr>
        <p:txBody>
          <a:bodyPr>
            <a:normAutofit/>
          </a:bodyPr>
          <a:lstStyle/>
          <a:p>
            <a:r>
              <a:rPr lang="en-IN" sz="2800" dirty="0"/>
              <a:t>Technical Review 2019-nCOV IVD Solution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756A1D-3EC4-4CB5-BBF4-DCBFDCB996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4789" y="930275"/>
            <a:ext cx="6751092" cy="582136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724023-84D6-46EE-898B-5765AE30E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35520" y="106363"/>
            <a:ext cx="4761548" cy="823912"/>
          </a:xfrm>
        </p:spPr>
        <p:txBody>
          <a:bodyPr>
            <a:normAutofit/>
          </a:bodyPr>
          <a:lstStyle/>
          <a:p>
            <a:r>
              <a:rPr lang="en-IN" dirty="0"/>
              <a:t>Clinical Report Summary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82D786B-9739-4284-ADF3-FE5D3377B30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142953" y="930275"/>
            <a:ext cx="4834257" cy="591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135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4A1225-8937-4090-B86D-A761EC1962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2493"/>
          <a:stretch/>
        </p:blipFill>
        <p:spPr>
          <a:xfrm>
            <a:off x="223520" y="84939"/>
            <a:ext cx="5587999" cy="668812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026A52-B862-494A-A01C-4B530C6D20D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29838" y="202674"/>
            <a:ext cx="5587999" cy="66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1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6CB759-3C9B-4990-BD14-5738A08BEF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10" b="2627"/>
          <a:stretch/>
        </p:blipFill>
        <p:spPr>
          <a:xfrm>
            <a:off x="93604" y="116522"/>
            <a:ext cx="3613434" cy="66601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2E5439-FBAA-44B9-AF4F-560E533F98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63" t="7898" r="5552" b="4108"/>
          <a:stretch/>
        </p:blipFill>
        <p:spPr>
          <a:xfrm>
            <a:off x="3891279" y="116522"/>
            <a:ext cx="8207117" cy="666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893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119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font00000000243a44eb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RAKESH JHA</dc:creator>
  <cp:lastModifiedBy>RAKESH JHA</cp:lastModifiedBy>
  <cp:revision>8</cp:revision>
  <dcterms:created xsi:type="dcterms:W3CDTF">2020-04-06T20:42:47Z</dcterms:created>
  <dcterms:modified xsi:type="dcterms:W3CDTF">2020-04-06T23:11:28Z</dcterms:modified>
</cp:coreProperties>
</file>